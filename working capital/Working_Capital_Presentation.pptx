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CCC (days)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&quot; d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1295C"/>
                    </a:solidFill>
                    <a:latin typeface="Calibri"/>
                  </a:defRPr>
                </a:pPr>
                <a:endParaRPr lang="da-D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Alpha</c:v>
                </c:pt>
                <c:pt idx="1">
                  <c:v>Beta 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143.1</c:v>
                </c:pt>
                <c:pt idx="1">
                  <c:v>34.4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4E-4364-947D-EB6D8467FC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C1B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C1B2A"/>
                    </a:solidFill>
                    <a:latin typeface="Calibri"/>
                  </a:defRPr>
                </a:pPr>
                <a:endParaRPr lang="da-D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DSO — collect</c:v>
                </c:pt>
                <c:pt idx="1">
                  <c:v>DIO — inventory</c:v>
                </c:pt>
                <c:pt idx="2">
                  <c:v>DPO — pay (credit)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115.3</c:v>
                </c:pt>
                <c:pt idx="2">
                  <c:v>60.2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2-445D-A6ED-C5B51F4974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spPr>
            <a:solidFill>
              <a:srgbClr val="F6C45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C1B2A"/>
                    </a:solidFill>
                    <a:latin typeface="Calibri"/>
                  </a:defRPr>
                </a:pPr>
                <a:endParaRPr lang="da-D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DSO — collect</c:v>
                </c:pt>
                <c:pt idx="1">
                  <c:v>DIO — inventory</c:v>
                </c:pt>
                <c:pt idx="2">
                  <c:v>DPO — pay (credit)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50.9</c:v>
                </c:pt>
                <c:pt idx="1">
                  <c:v>59.8</c:v>
                </c:pt>
                <c:pt idx="2">
                  <c:v>76.3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42-445D-A6ED-C5B51F4974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C1B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C1B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117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645920"/>
            <a:ext cx="3291840" cy="3291840"/>
          </a:xfrm>
          <a:prstGeom prst="ellipse">
            <a:avLst/>
          </a:prstGeom>
          <a:solidFill>
            <a:srgbClr val="0C1B2A"/>
          </a:solidFill>
          <a:ln w="15875">
            <a:solidFill>
              <a:srgbClr val="065A8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8762695" y="-1234440"/>
            <a:ext cx="2468880" cy="2468880"/>
          </a:xfrm>
          <a:prstGeom prst="ellipse">
            <a:avLst/>
          </a:prstGeom>
          <a:solidFill>
            <a:srgbClr val="0C1B2A"/>
          </a:solidFill>
          <a:ln w="15875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4" name="Shape 2"/>
          <p:cNvSpPr/>
          <p:nvPr/>
        </p:nvSpPr>
        <p:spPr>
          <a:xfrm>
            <a:off x="9174175" y="-822960"/>
            <a:ext cx="1645920" cy="1645920"/>
          </a:xfrm>
          <a:prstGeom prst="ellipse">
            <a:avLst/>
          </a:prstGeom>
          <a:solidFill>
            <a:srgbClr val="0C1B2A"/>
          </a:solidFill>
          <a:ln w="15875">
            <a:solidFill>
              <a:srgbClr val="065A8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5" name="Shape 3"/>
          <p:cNvSpPr/>
          <p:nvPr/>
        </p:nvSpPr>
        <p:spPr>
          <a:xfrm>
            <a:off x="9585655" y="-411480"/>
            <a:ext cx="822960" cy="822960"/>
          </a:xfrm>
          <a:prstGeom prst="ellipse">
            <a:avLst/>
          </a:prstGeom>
          <a:solidFill>
            <a:srgbClr val="0C1B2A"/>
          </a:solidFill>
          <a:ln w="15875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ANALYSIS  ·  ILLUSTRATIVE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Capital &amp; Cash Flow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29718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efficiently do two energy-equipment firms (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Systems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Energy)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 operations into cash?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12263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0" name="Text 8"/>
          <p:cNvSpPr/>
          <p:nvPr/>
        </p:nvSpPr>
        <p:spPr>
          <a:xfrm>
            <a:off x="704088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6C4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 vs 34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1248" y="4828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cash conversion cycle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5230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ties up ~4x the days Beta does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39776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12263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4" name="Text 12"/>
          <p:cNvSpPr/>
          <p:nvPr/>
        </p:nvSpPr>
        <p:spPr>
          <a:xfrm>
            <a:off x="4361688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6C4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 vs 10%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498848" y="4828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working capital / revenue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98848" y="5230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revenue dollar locked on the balance sheet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73568" y="39776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12263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a-DK" dirty="0"/>
          </a:p>
        </p:txBody>
      </p:sp>
      <p:sp>
        <p:nvSpPr>
          <p:cNvPr id="18" name="Text 16"/>
          <p:cNvSpPr/>
          <p:nvPr/>
        </p:nvSpPr>
        <p:spPr>
          <a:xfrm>
            <a:off x="8019288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6C4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~$470m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56448" y="4828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Alpha could release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56448" y="5230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12.9% of revenue, from three levers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 with synthetic data for two fictional companies. Figures in US$. Method mirrors a standard working-capital benchmark.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locks up far more cash than its peer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 cycle, FY2023 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784462493"/>
              </p:ext>
            </p:extLst>
          </p:nvPr>
        </p:nvGraphicFramePr>
        <p:xfrm>
          <a:off x="548640" y="155448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645920"/>
            <a:ext cx="5212080" cy="1508760"/>
          </a:xfrm>
          <a:prstGeom prst="roundRect">
            <a:avLst>
              <a:gd name="adj" fmla="val 2927"/>
            </a:avLst>
          </a:prstGeom>
          <a:solidFill>
            <a:srgbClr val="EAF1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6" name="Text 3"/>
          <p:cNvSpPr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gap means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9400" y="21945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holds cash in its operating cycle for </a:t>
            </a:r>
            <a:r>
              <a:rPr lang="en-US" sz="1400" b="1" dirty="0">
                <a:solidFill>
                  <a:srgbClr val="F2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~109 more days</a:t>
            </a:r>
            <a:r>
              <a:rPr lang="en-US" sz="14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Beta. On Alpha's cost base that difference is worth hundreds of millions in cash that sit the balance sheet.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3703320"/>
            <a:ext cx="2514600" cy="214884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" name="Text 6"/>
          <p:cNvSpPr/>
          <p:nvPr/>
        </p:nvSpPr>
        <p:spPr>
          <a:xfrm>
            <a:off x="6400800" y="3840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41605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6400800" y="5074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working capital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% of revenue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98280" y="3703320"/>
            <a:ext cx="2514600" cy="2148840"/>
          </a:xfrm>
          <a:prstGeom prst="roundRect">
            <a:avLst>
              <a:gd name="adj" fmla="val 255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3" name="Text 10"/>
          <p:cNvSpPr/>
          <p:nvPr/>
        </p:nvSpPr>
        <p:spPr>
          <a:xfrm>
            <a:off x="9098280" y="3840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098280" y="41605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9098280" y="5074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working capital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% of revenue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Cash Flow Deep-Dive  ·  Alpha Subsea Systems vs Beta Energy Equipment (illustrative)  ·  FY2023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cash is trapped: inventory and payables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 cycle broken into its three drivers (days, FY2023)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6751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160520" cy="1280160"/>
          </a:xfrm>
          <a:prstGeom prst="roundRect">
            <a:avLst>
              <a:gd name="adj" fmla="val 4286"/>
            </a:avLst>
          </a:prstGeom>
          <a:solidFill>
            <a:srgbClr val="EAF1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da-DK" dirty="0"/>
          </a:p>
        </p:txBody>
      </p:sp>
      <p:sp>
        <p:nvSpPr>
          <p:cNvPr id="6" name="Shape 3"/>
          <p:cNvSpPr/>
          <p:nvPr/>
        </p:nvSpPr>
        <p:spPr>
          <a:xfrm>
            <a:off x="7635240" y="1801368"/>
            <a:ext cx="146304" cy="146304"/>
          </a:xfrm>
          <a:prstGeom prst="ellipse">
            <a:avLst/>
          </a:prstGeom>
          <a:solidFill>
            <a:srgbClr val="F2784B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" name="Text 4"/>
          <p:cNvSpPr/>
          <p:nvPr/>
        </p:nvSpPr>
        <p:spPr>
          <a:xfrm>
            <a:off x="7882128" y="17190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the main driver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82128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holds 115 days of stock vs 60 at Beta: profile of a capital-equipment maker carrying long-lead components and spares.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52360" y="3017520"/>
            <a:ext cx="4160520" cy="1280160"/>
          </a:xfrm>
          <a:prstGeom prst="roundRect">
            <a:avLst>
              <a:gd name="adj" fmla="val 4286"/>
            </a:avLst>
          </a:prstGeom>
          <a:solidFill>
            <a:srgbClr val="EAF1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0" name="Shape 7"/>
          <p:cNvSpPr/>
          <p:nvPr/>
        </p:nvSpPr>
        <p:spPr>
          <a:xfrm>
            <a:off x="7635240" y="3218688"/>
            <a:ext cx="146304" cy="146304"/>
          </a:xfrm>
          <a:prstGeom prst="ellipse">
            <a:avLst/>
          </a:prstGeom>
          <a:solidFill>
            <a:srgbClr val="F6C453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1" name="Text 8"/>
          <p:cNvSpPr/>
          <p:nvPr/>
        </p:nvSpPr>
        <p:spPr>
          <a:xfrm>
            <a:off x="7882128" y="31363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supplier financing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82128" y="34747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pays suppliers in 60 days; Beta stretches to ~6, effectively financing itself through its supply chain.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52360" y="4434840"/>
            <a:ext cx="4160520" cy="1280160"/>
          </a:xfrm>
          <a:prstGeom prst="roundRect">
            <a:avLst>
              <a:gd name="adj" fmla="val 4286"/>
            </a:avLst>
          </a:prstGeom>
          <a:solidFill>
            <a:srgbClr val="EAF1F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4" name="Shape 11"/>
          <p:cNvSpPr/>
          <p:nvPr/>
        </p:nvSpPr>
        <p:spPr>
          <a:xfrm>
            <a:off x="7635240" y="463600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5" name="Text 12"/>
          <p:cNvSpPr/>
          <p:nvPr/>
        </p:nvSpPr>
        <p:spPr>
          <a:xfrm>
            <a:off x="7882128" y="45537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collection too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882128" y="48920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waits 88 days to collect from customers vs 51 at Beta: another chunk of cash sitting in receivables.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Cash Flow   ·  FY2023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levers to release ~$470m of cash</a:t>
            </a:r>
            <a:endParaRPr lang="en-US" sz="3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FY2023 basis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12263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inventory days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95528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released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115 → 90 days (buffer kept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2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by product line; guard lead-time on long-cycle kit.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79976" y="155448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12263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2" name="Text 10"/>
          <p:cNvSpPr/>
          <p:nvPr/>
        </p:nvSpPr>
        <p:spPr>
          <a:xfrm>
            <a:off x="4608576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08576" y="1993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payables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08576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26864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released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08576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60 → 72 days (toward peer's 76)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08576" y="3941064"/>
            <a:ext cx="3200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2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supply-chain finance to protect supplier relationship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11312" y="155448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12263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9" name="Text 17"/>
          <p:cNvSpPr/>
          <p:nvPr/>
        </p:nvSpPr>
        <p:spPr>
          <a:xfrm>
            <a:off x="8439912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39912" y="1993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faster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439912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$180m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458200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released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39912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88 → 70 days (toward peer's 51)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39912" y="3941064"/>
            <a:ext cx="3200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2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commercial-partnering effort; guard key customer relationships.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292840" cy="128016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6" name="Text 24"/>
          <p:cNvSpPr/>
          <p:nvPr/>
        </p:nvSpPr>
        <p:spPr>
          <a:xfrm>
            <a:off x="822960" y="5138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is Alpha's largest self-help cash lever.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even part of the gap to Beta frees roughly $470m (13% of revenue) across all three cycle drivers. Inventory and receivables are the big prizes both partnering efforts with operations and commercial teams.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Cash Flow Deep-Dive  ·  FY2023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461</Words>
  <Application>Microsoft Office PowerPoint</Application>
  <PresentationFormat>Widescreen</PresentationFormat>
  <Paragraphs>65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Capital Deep-Dive</dc:title>
  <dc:subject>PptxGenJS Presentation</dc:subject>
  <dc:creator>PptxGenJS</dc:creator>
  <cp:lastModifiedBy>Marika Lisoni</cp:lastModifiedBy>
  <cp:revision>2</cp:revision>
  <dcterms:created xsi:type="dcterms:W3CDTF">2026-07-07T18:30:36Z</dcterms:created>
  <dcterms:modified xsi:type="dcterms:W3CDTF">2026-07-07T19:14:25Z</dcterms:modified>
</cp:coreProperties>
</file>